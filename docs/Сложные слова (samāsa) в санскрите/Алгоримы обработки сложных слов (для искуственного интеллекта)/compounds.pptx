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  <p:sldMasterId id="2147483673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C0A215D0-E86B-4178-ABFE-7D9844362A22}">
  <a:tblStyle styleId="{C0A215D0-E86B-4178-ABFE-7D9844362A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05" d="100"/>
          <a:sy n="205" d="100"/>
        </p:scale>
        <p:origin x="-834" y="-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ae0e2f7af_2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1ae0e2f7af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ae0e2f7af_2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1ae0e2f7af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ae0e2f7af_2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1ae0e2f7af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ae0e2f7af_2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1ae0e2f7af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ae0e2f7af_2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1ae0e2f7af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ae0e2f7af_2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1ae0e2f7af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ae0e2f7af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1ae0e2f7a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ae0e2f7af_2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1ae0e2f7af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ae0e2f7af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1ae0e2f7a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ae0e2f7af_2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1ae0e2f7af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ae0e2f7af_2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1ae0e2f7af_2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ae0e2f7af_2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1ae0e2f7af_2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ae0e2f7af_2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1ae0e2f7af_2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ae0e2f7af_2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1ae0e2f7af_2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ae0e2f7af_2_1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1ae0e2f7af_2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ae0e2f7af_2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1ae0e2f7af_2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ae0e2f7af_2_1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1ae0e2f7af_2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ae0e2f7af_2_1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1ae0e2f7af_2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ae0e2f7af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1ae0e2f7a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ae0e2f7af_2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1ae0e2f7af_2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Custom Layout">
  <p:cSld name="27_Custom Layou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>
            <a:spLocks noGrp="1"/>
          </p:cNvSpPr>
          <p:nvPr>
            <p:ph type="pic" idx="2"/>
          </p:nvPr>
        </p:nvSpPr>
        <p:spPr>
          <a:xfrm>
            <a:off x="2940050" y="-476249"/>
            <a:ext cx="6450133" cy="525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177800" marR="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222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177800" marR="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63600" marR="0" lvl="2" indent="-171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500" marR="0" lvl="3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9400" marR="0" lvl="4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92300" marR="0" lvl="5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235200" marR="0" lvl="6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78100" marR="0" lvl="7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921000" marR="0" lvl="8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indent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Arial"/>
              <a:buNone/>
            </a:pPr>
            <a:r>
              <a:rPr lang="en-GB" sz="330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Rules, Knowledge Base and Algorithms: Automated analysis of compound types in Sanskrit</a:t>
            </a:r>
            <a:endParaRPr sz="3300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7"/>
          <p:cNvSpPr txBox="1">
            <a:spLocks noGrp="1"/>
          </p:cNvSpPr>
          <p:nvPr>
            <p:ph type="subTitle" idx="1"/>
          </p:nvPr>
        </p:nvSpPr>
        <p:spPr>
          <a:xfrm>
            <a:off x="270000" y="2701525"/>
            <a:ext cx="86043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GB" sz="1700" b="0" i="0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Amrith Krishna,</a:t>
            </a: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Pavankumar Satuluri, Shubham Sharma, Apurv Kumar and Pawan Goyal</a:t>
            </a: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700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700">
                <a:solidFill>
                  <a:schemeClr val="lt1"/>
                </a:solidFill>
              </a:rPr>
              <a:t>Dr. Pawan Goyal</a:t>
            </a:r>
            <a:endParaRPr sz="1700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1100"/>
          </a:p>
          <a:p>
            <a:pPr marL="0" marR="0" lvl="0" indent="0" algn="ctr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Indian Institute of Technology, Kharagpur, WB, India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Compounding</a:t>
            </a: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8"/>
          <p:cNvSpPr txBox="1">
            <a:spLocks noGrp="1"/>
          </p:cNvSpPr>
          <p:nvPr>
            <p:ph type="body" idx="1"/>
          </p:nvPr>
        </p:nvSpPr>
        <p:spPr>
          <a:xfrm>
            <a:off x="628648" y="1245788"/>
            <a:ext cx="7886700" cy="36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Means of vocabulary expansion</a:t>
            </a:r>
            <a:endParaRPr sz="1100"/>
          </a:p>
          <a:p>
            <a:pPr marL="177800" marR="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Two words or more words join together to form new word 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concatenative or non-concatenative</a:t>
            </a:r>
            <a:endParaRPr sz="1100"/>
          </a:p>
          <a:p>
            <a:pPr marL="177800" marR="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Compound analysis is computationally challenging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compounds are highly productive in nature, 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relation between the components is implicit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correct interpretation of a compound is often dependent on contextual or pragmatic feature</a:t>
            </a:r>
            <a:endParaRPr sz="1100"/>
          </a:p>
        </p:txBody>
      </p:sp>
      <p:sp>
        <p:nvSpPr>
          <p:cNvPr id="143" name="Google Shape;143;p28"/>
          <p:cNvSpPr txBox="1"/>
          <p:nvPr/>
        </p:nvSpPr>
        <p:spPr>
          <a:xfrm>
            <a:off x="449246" y="4346972"/>
            <a:ext cx="824550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 Nam Kim and Timothy Baldwin. 2005. Automatic interpretation of noun compounds using wordnet similarity. In International Conference on Natural Language Processing, pages 945–956. Springer.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Compounds Word Usage</a:t>
            </a:r>
            <a:endParaRPr sz="1100"/>
          </a:p>
        </p:txBody>
      </p:sp>
      <p:sp>
        <p:nvSpPr>
          <p:cNvPr id="150" name="Google Shape;150;p2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Vocabulary share –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 German, 47 % vocabulary share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Sanskrit – 75 %  (from the DCS corpus of 3.2 million tokens)</a:t>
            </a:r>
            <a:endParaRPr sz="1100"/>
          </a:p>
          <a:p>
            <a:pPr marL="177800" marR="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English, compounds usage is estimated to be less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 – 4 % words in the vocabulary take part in compound formation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43 % of vocabulary in Sanskrit take part in compound formation.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Sanskrit, compounds with multiple components are also widely used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Compounding</a:t>
            </a: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0"/>
          <p:cNvSpPr txBox="1"/>
          <p:nvPr/>
        </p:nvSpPr>
        <p:spPr>
          <a:xfrm>
            <a:off x="628650" y="971667"/>
            <a:ext cx="8106896" cy="297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f(boat,house) -&gt; boat</a:t>
            </a:r>
            <a:r>
              <a:rPr lang="en-GB" sz="2100" i="1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house</a:t>
            </a:r>
            <a:endParaRPr sz="1100" i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f(pale,face) -&gt; paleface</a:t>
            </a:r>
            <a:endParaRPr sz="1100" i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f(bitter,sweet) -&gt; </a:t>
            </a:r>
            <a:r>
              <a:rPr lang="en-GB" sz="2100" i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bitter</a:t>
            </a:r>
            <a:r>
              <a:rPr lang="en-GB" sz="2100" i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sweet</a:t>
            </a:r>
            <a:endParaRPr sz="1100" i="1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Sanskrit, the relations are abstracted into 4 broad classes based on the headedness of compound.</a:t>
            </a:r>
            <a:endParaRPr sz="1100"/>
          </a:p>
          <a:p>
            <a:pPr marL="3429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Identifying the head of the compound can be useful.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are further fine-grained classification of compounds as well in Sanskrit, though we will not be discussing them.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Headedness of compounds in Sanskrit</a:t>
            </a:r>
            <a:endParaRPr sz="1100"/>
          </a:p>
        </p:txBody>
      </p:sp>
      <p:sp>
        <p:nvSpPr>
          <p:cNvPr id="164" name="Google Shape;164;p31"/>
          <p:cNvSpPr txBox="1"/>
          <p:nvPr/>
        </p:nvSpPr>
        <p:spPr>
          <a:xfrm>
            <a:off x="800550" y="1054725"/>
            <a:ext cx="8149200" cy="3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Avyayībhāva</a:t>
            </a:r>
            <a:endParaRPr sz="2100" i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Upa + kr̥ṣṇaḥ -&gt; upakr̥ṣṇam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Near to Krishna</a:t>
            </a:r>
            <a:endParaRPr sz="1100"/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head is an </a:t>
            </a: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indeclinable</a:t>
            </a: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Upa is the head here</a:t>
            </a:r>
            <a:endParaRPr sz="1100"/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Compound also becomes an indeclinable</a:t>
            </a:r>
            <a:endParaRPr sz="1100"/>
          </a:p>
          <a:p>
            <a:pPr marL="3429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Tatpuruṣa</a:t>
            </a:r>
            <a:endParaRPr sz="2100" b="0" i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Endocentric compounds</a:t>
            </a:r>
            <a:endParaRPr sz="1100"/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Second component is generally the head</a:t>
            </a:r>
            <a:endParaRPr sz="1100"/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rājapuruṣaḥ :</a:t>
            </a:r>
            <a:r>
              <a:rPr lang="en-GB" sz="21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‘rajnah </a:t>
            </a: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puruṣaḥ</a:t>
            </a:r>
            <a:r>
              <a:rPr lang="en-GB" sz="2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i.e. King’s m</a:t>
            </a: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100"/>
          </a:p>
          <a:p>
            <a:pPr marL="1028700" marR="0" lvl="2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rājan </a:t>
            </a:r>
            <a:r>
              <a:rPr lang="en-GB" sz="2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(genitive)+</a:t>
            </a: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puruṣaḥ </a:t>
            </a:r>
            <a:endParaRPr sz="2100" b="0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Karmadha</a:t>
            </a: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̄</a:t>
            </a:r>
            <a:r>
              <a:rPr lang="en-GB" sz="2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raya 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compound  or descriptive compounds is a sub-type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Headedness of compounds in Sanskrit</a:t>
            </a:r>
            <a:endParaRPr sz="1100"/>
          </a:p>
        </p:txBody>
      </p:sp>
      <p:sp>
        <p:nvSpPr>
          <p:cNvPr id="171" name="Google Shape;171;p32"/>
          <p:cNvSpPr txBox="1"/>
          <p:nvPr/>
        </p:nvSpPr>
        <p:spPr>
          <a:xfrm>
            <a:off x="800539" y="1054735"/>
            <a:ext cx="7218812" cy="362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Bahuvrīhi</a:t>
            </a:r>
            <a:endParaRPr sz="21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Exocentric</a:t>
            </a:r>
            <a:endParaRPr sz="1100"/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Refers to an external entity</a:t>
            </a:r>
            <a:endParaRPr sz="1100"/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‘</a:t>
            </a: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pītāmbaraḥ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’ – ‘’</a:t>
            </a: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pītam ambaram yasya saḥ</a:t>
            </a:r>
            <a:r>
              <a:rPr lang="en-GB"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”,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The words </a:t>
            </a: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pītam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(yellow) and </a:t>
            </a:r>
            <a:r>
              <a:rPr lang="en-GB" sz="2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ambaram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(cloth) collectively refer to Lord Vishnu</a:t>
            </a:r>
            <a:endParaRPr sz="1100"/>
          </a:p>
          <a:p>
            <a:pPr marL="3429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Dvandva</a:t>
            </a:r>
            <a:endParaRPr sz="21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Copulative compounds</a:t>
            </a:r>
            <a:endParaRPr sz="1100"/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the components are heads</a:t>
            </a:r>
            <a:endParaRPr sz="1100"/>
          </a:p>
          <a:p>
            <a:pPr marL="685800" marR="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mātāpitarau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– Mother and Father (The case is dual for the compound)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/>
          <p:nvPr/>
        </p:nvSpPr>
        <p:spPr>
          <a:xfrm>
            <a:off x="269850" y="273850"/>
            <a:ext cx="8604300" cy="46206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>
                <a:solidFill>
                  <a:srgbClr val="92D050"/>
                </a:solidFill>
              </a:rPr>
              <a:t>Regularities of Compounds in Sanskrit</a:t>
            </a:r>
            <a:endParaRPr sz="1100"/>
          </a:p>
        </p:txBody>
      </p:sp>
      <p:sp>
        <p:nvSpPr>
          <p:cNvPr id="178" name="Google Shape;178;p33"/>
          <p:cNvSpPr txBox="1"/>
          <p:nvPr/>
        </p:nvSpPr>
        <p:spPr>
          <a:xfrm>
            <a:off x="800539" y="1054735"/>
            <a:ext cx="72189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</a:rPr>
              <a:t>Concatenative</a:t>
            </a:r>
            <a:endParaRPr sz="2100">
              <a:solidFill>
                <a:schemeClr val="lt1"/>
              </a:solidFill>
            </a:endParaRPr>
          </a:p>
          <a:p>
            <a:pPr marL="3429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</a:rPr>
              <a:t>Strict preference for the ordering of the components.</a:t>
            </a:r>
            <a:endParaRPr sz="2100">
              <a:solidFill>
                <a:schemeClr val="lt1"/>
              </a:solidFill>
            </a:endParaRPr>
          </a:p>
          <a:p>
            <a:pPr marL="3429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</a:rPr>
              <a:t>Subject to all the inflectional and derivational modifications applicable to nouns</a:t>
            </a:r>
            <a:endParaRPr sz="2100">
              <a:solidFill>
                <a:schemeClr val="lt1"/>
              </a:solidFill>
            </a:endParaRPr>
          </a:p>
          <a:p>
            <a:pPr marL="3429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</a:rPr>
              <a:t>Affixation occurs at the end of the compound and not within the components</a:t>
            </a:r>
            <a:endParaRPr sz="2100">
              <a:solidFill>
                <a:schemeClr val="lt1"/>
              </a:solidFill>
            </a:endParaRPr>
          </a:p>
          <a:p>
            <a:pPr marL="6858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i="1">
                <a:solidFill>
                  <a:schemeClr val="lt1"/>
                </a:solidFill>
              </a:rPr>
              <a:t>rājñaḥ puruṣaḥ --&gt; rājan ṅas puruṣaḥ → rājapuruṣaḥ</a:t>
            </a:r>
            <a:endParaRPr sz="2100" i="1">
              <a:solidFill>
                <a:schemeClr val="lt1"/>
              </a:solidFill>
            </a:endParaRPr>
          </a:p>
          <a:p>
            <a:pPr marL="685800" lvl="1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i="1">
                <a:solidFill>
                  <a:schemeClr val="lt1"/>
                </a:solidFill>
              </a:rPr>
              <a:t>rājapuruṣasya</a:t>
            </a:r>
            <a:r>
              <a:rPr lang="en-GB" sz="2100">
                <a:solidFill>
                  <a:schemeClr val="lt1"/>
                </a:solidFill>
              </a:rPr>
              <a:t> (after inflection in 6th case)</a:t>
            </a:r>
            <a:endParaRPr sz="2100">
              <a:solidFill>
                <a:schemeClr val="lt1"/>
              </a:solidFill>
            </a:endParaRPr>
          </a:p>
          <a:p>
            <a:pPr marL="3429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</a:rPr>
              <a:t>Any compound can be analysed by decomposing it into two immediate component nouns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Multi-class classification</a:t>
            </a:r>
            <a:endParaRPr sz="1100"/>
          </a:p>
        </p:txBody>
      </p:sp>
      <p:sp>
        <p:nvSpPr>
          <p:cNvPr id="185" name="Google Shape;185;p34"/>
          <p:cNvSpPr txBox="1">
            <a:spLocks noGrp="1"/>
          </p:cNvSpPr>
          <p:nvPr>
            <p:ph type="body" idx="1"/>
          </p:nvPr>
        </p:nvSpPr>
        <p:spPr>
          <a:xfrm>
            <a:off x="628650" y="1091999"/>
            <a:ext cx="7886700" cy="285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492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-GB" sz="1900">
                <a:solidFill>
                  <a:schemeClr val="lt1"/>
                </a:solidFill>
              </a:rPr>
              <a:t>Given a compound, we need to identify the type of the compound i.e. one of the four classes</a:t>
            </a:r>
            <a:endParaRPr sz="1900">
              <a:solidFill>
                <a:schemeClr val="lt1"/>
              </a:solidFill>
            </a:endParaRPr>
          </a:p>
          <a:p>
            <a:pPr marL="457200" marR="0" lvl="0" indent="-3492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-GB" sz="1900">
                <a:solidFill>
                  <a:schemeClr val="lt1"/>
                </a:solidFill>
              </a:rPr>
              <a:t>How can a system identify the compound type?</a:t>
            </a:r>
            <a:endParaRPr sz="1900">
              <a:solidFill>
                <a:schemeClr val="lt1"/>
              </a:solidFill>
            </a:endParaRPr>
          </a:p>
          <a:p>
            <a:pPr marL="457200" marR="0" lvl="0" indent="-3492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-GB" sz="1900">
                <a:solidFill>
                  <a:schemeClr val="lt1"/>
                </a:solidFill>
              </a:rPr>
              <a:t>Supervised learning - We give examples of different types of compounds to the system</a:t>
            </a:r>
            <a:endParaRPr sz="1900">
              <a:solidFill>
                <a:schemeClr val="lt1"/>
              </a:solidFill>
            </a:endParaRPr>
          </a:p>
          <a:p>
            <a:pPr marL="457200" marR="0" lvl="0" indent="-3492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-GB" sz="1900">
                <a:solidFill>
                  <a:schemeClr val="lt1"/>
                </a:solidFill>
              </a:rPr>
              <a:t>We also need to provide relevant details about the compound explicitly to the system</a:t>
            </a:r>
            <a:endParaRPr sz="1900">
              <a:solidFill>
                <a:schemeClr val="lt1"/>
              </a:solidFill>
            </a:endParaRPr>
          </a:p>
          <a:p>
            <a:pPr marL="457200" marR="0" lvl="0" indent="-3492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-"/>
            </a:pPr>
            <a:r>
              <a:rPr lang="en-GB" sz="1900">
                <a:solidFill>
                  <a:schemeClr val="lt1"/>
                </a:solidFill>
              </a:rPr>
              <a:t>The explicit information is given as features and system learns what values of features is related to which particular class</a:t>
            </a:r>
            <a:endParaRPr sz="190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/>
          <p:nvPr/>
        </p:nvSpPr>
        <p:spPr>
          <a:xfrm>
            <a:off x="269840" y="249221"/>
            <a:ext cx="8604300" cy="4645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Multi-class classification</a:t>
            </a:r>
            <a:endParaRPr sz="1100"/>
          </a:p>
        </p:txBody>
      </p:sp>
      <p:sp>
        <p:nvSpPr>
          <p:cNvPr id="192" name="Google Shape;192;p35"/>
          <p:cNvSpPr txBox="1">
            <a:spLocks noGrp="1"/>
          </p:cNvSpPr>
          <p:nvPr>
            <p:ph type="body" idx="1"/>
          </p:nvPr>
        </p:nvSpPr>
        <p:spPr>
          <a:xfrm>
            <a:off x="628650" y="1091999"/>
            <a:ext cx="7886700" cy="2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•"/>
            </a:pPr>
            <a:r>
              <a:rPr lang="en-GB"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1100"/>
          </a:p>
          <a:p>
            <a:pPr marL="520700" marR="0" lvl="1" indent="-1841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UoHyd</a:t>
            </a:r>
            <a:endParaRPr sz="1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marR="0" lvl="1" indent="-1841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Labelled with human supervision</a:t>
            </a:r>
            <a:endParaRPr sz="1100"/>
          </a:p>
          <a:p>
            <a:pPr marL="520700" marR="0" lvl="1" indent="-1841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32000 unique labelled compounds with compound splits</a:t>
            </a:r>
            <a:endParaRPr sz="1100"/>
          </a:p>
          <a:p>
            <a:pPr marL="520700" marR="0" lvl="1" indent="-1841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Collected from various ancient manuscripts</a:t>
            </a:r>
            <a:endParaRPr sz="1100"/>
          </a:p>
          <a:p>
            <a:pPr marL="177800" marR="0" lvl="0" indent="-17145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Char char="•"/>
            </a:pPr>
            <a:r>
              <a:rPr lang="en-GB"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Imbalanced data </a:t>
            </a:r>
            <a:endParaRPr sz="1100"/>
          </a:p>
          <a:p>
            <a:pPr marL="520700" marR="0" lvl="1" indent="-1841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Tatpurusha instances are highest, under-sampled to match with bahuvrihi data samples</a:t>
            </a:r>
            <a:endParaRPr sz="1100"/>
          </a:p>
          <a:p>
            <a:pPr marL="520700" marR="0" lvl="1" indent="-1841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Evidence for Avyayibhava class is 5 % of the bahuvrihi class</a:t>
            </a:r>
            <a:endParaRPr sz="1100"/>
          </a:p>
          <a:p>
            <a:pPr marL="520700" marR="0" lvl="1" indent="-1841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 10,000 labelled instances</a:t>
            </a:r>
            <a:endParaRPr sz="1100"/>
          </a:p>
          <a:p>
            <a:pPr marL="520700" marR="0" lvl="1" indent="-1841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n-GB"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 – 20 Split Training &amp; Held-out dataset</a:t>
            </a:r>
            <a:endParaRPr sz="1100"/>
          </a:p>
          <a:p>
            <a:pPr marL="177800" marR="0" lvl="0" indent="-508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Features – Rules from Aṣṭādhyāyī</a:t>
            </a:r>
            <a:endParaRPr sz="3300" b="0" i="0" u="none" strike="noStrike" cap="none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Grammar for Sanskrit was defined 2500 years ago</a:t>
            </a:r>
            <a:endParaRPr sz="1100"/>
          </a:p>
          <a:p>
            <a:pPr marL="177800" marR="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Aṣṭādhyāyī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is an integral part of the grammar with 4000 rules</a:t>
            </a: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400 of the rules state about compound formation in Sanskrit</a:t>
            </a:r>
            <a:endParaRPr sz="1100"/>
          </a:p>
          <a:p>
            <a:pPr marL="177800" marR="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Less than 100 of the rules are conditional rules in nature, and has been incorporated in the framework</a:t>
            </a:r>
            <a:endParaRPr sz="1100"/>
          </a:p>
          <a:p>
            <a:pPr marL="177800" marR="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Features – Rules from Aṣṭādhyāyī</a:t>
            </a:r>
            <a:endParaRPr sz="3300" b="0" i="0" u="none" strike="noStrike" cap="none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5831" y="1107662"/>
            <a:ext cx="7579519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7"/>
          <p:cNvSpPr txBox="1"/>
          <p:nvPr/>
        </p:nvSpPr>
        <p:spPr>
          <a:xfrm>
            <a:off x="269839" y="4406590"/>
            <a:ext cx="860431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Amba Kulkarni and Anil Kumar. 2013. Clues from </a:t>
            </a:r>
            <a:r>
              <a:rPr lang="en-GB" sz="140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Aṣṭādhyāyī</a:t>
            </a:r>
            <a:r>
              <a:rPr lang="en-GB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for compound type identification. In 5th International Sanskrit Computational Linguistics Symposium (SCLS).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Features – Relations from Lexicon</a:t>
            </a:r>
            <a:endParaRPr sz="1100"/>
          </a:p>
        </p:txBody>
      </p:sp>
      <p:sp>
        <p:nvSpPr>
          <p:cNvPr id="215" name="Google Shape;215;p38"/>
          <p:cNvSpPr txBox="1"/>
          <p:nvPr/>
        </p:nvSpPr>
        <p:spPr>
          <a:xfrm>
            <a:off x="628650" y="1113323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lang="en-GB" sz="21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Amarako</a:t>
            </a:r>
            <a:r>
              <a:rPr lang="en-GB" sz="2100" b="0" i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ś</a:t>
            </a:r>
            <a:r>
              <a:rPr lang="en-GB" sz="21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100">
              <a:solidFill>
                <a:srgbClr val="FFFFFF"/>
              </a:solidFill>
            </a:endParaRPr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ancient dictionary of 11580 words (9031 unique lemmas) in altogether 4035 synsets.</a:t>
            </a:r>
            <a:endParaRPr sz="1100">
              <a:solidFill>
                <a:srgbClr val="FFFFFF"/>
              </a:solidFill>
            </a:endParaRPr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six relations (was implicit in the original manuscript</a:t>
            </a:r>
            <a:r>
              <a:rPr lang="en-GB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GB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 made explicit later </a:t>
            </a:r>
            <a:r>
              <a:rPr lang="en-GB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rgbClr val="FFFFFF"/>
              </a:solidFill>
            </a:endParaRPr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‘part-whole’,‘is a kind of’ and ‘master-possession’ – </a:t>
            </a:r>
            <a:r>
              <a:rPr lang="en-GB" sz="1800" b="0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Tatpuruṣa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‘child-parent’ and ‘husband-wife’, - Dvandva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Gender information - </a:t>
            </a:r>
            <a:r>
              <a:rPr lang="en-GB" sz="1800" b="0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Bahuvrīhi</a:t>
            </a:r>
            <a:endParaRPr sz="1800" b="0" i="1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■"/>
            </a:pPr>
            <a:r>
              <a:rPr lang="en-GB" sz="1800" i="1">
                <a:solidFill>
                  <a:srgbClr val="FFFFFF"/>
                </a:solidFill>
              </a:rPr>
              <a:t>pītāmbaraḥ</a:t>
            </a:r>
            <a:r>
              <a:rPr lang="en-GB" sz="1800">
                <a:solidFill>
                  <a:srgbClr val="FFFFFF"/>
                </a:solidFill>
              </a:rPr>
              <a:t> and </a:t>
            </a:r>
            <a:r>
              <a:rPr lang="en-GB" sz="1800" i="1">
                <a:solidFill>
                  <a:srgbClr val="FFFFFF"/>
                </a:solidFill>
              </a:rPr>
              <a:t>pītāmbaram</a:t>
            </a:r>
            <a:endParaRPr sz="1800" i="1">
              <a:solidFill>
                <a:srgbClr val="FFFFFF"/>
              </a:solidFill>
            </a:endParaRPr>
          </a:p>
          <a:p>
            <a:pPr marL="520700" marR="0" lvl="1" indent="-63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8"/>
          <p:cNvSpPr txBox="1"/>
          <p:nvPr/>
        </p:nvSpPr>
        <p:spPr>
          <a:xfrm>
            <a:off x="269840" y="4376827"/>
            <a:ext cx="8588494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Sivaja S Nair and Amba Kulkarni. 2010. The knowledge structure in </a:t>
            </a:r>
            <a:r>
              <a:rPr lang="en-GB" sz="14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Amarako</a:t>
            </a:r>
            <a:r>
              <a:rPr lang="en-GB" sz="1400" b="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ś</a:t>
            </a:r>
            <a:r>
              <a:rPr lang="en-GB" sz="14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In Sanskrit Computational Linguistics, pages 173–189. Springer.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Features – Variable length character n-grams</a:t>
            </a:r>
            <a:endParaRPr sz="1100"/>
          </a:p>
        </p:txBody>
      </p:sp>
      <p:sp>
        <p:nvSpPr>
          <p:cNvPr id="223" name="Google Shape;223;p39"/>
          <p:cNvSpPr txBox="1"/>
          <p:nvPr/>
        </p:nvSpPr>
        <p:spPr>
          <a:xfrm>
            <a:off x="628647" y="109497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Adaptor Grammars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PCFGs where non-terminals are fixed and productions are learnt from data</a:t>
            </a:r>
            <a:endParaRPr sz="1100"/>
          </a:p>
          <a:p>
            <a:pPr marL="520700" marR="0" lvl="1" indent="-63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marR="0" lvl="1" indent="-63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marR="0" lvl="1" indent="-63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marR="0" lvl="1" indent="-63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marR="0" lvl="1" indent="-63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Separate grammars for each class</a:t>
            </a:r>
            <a:endParaRPr sz="1100"/>
          </a:p>
          <a:p>
            <a:pPr marL="520700" marR="0" lvl="1" indent="-177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Filtered by cross entropy with a grammar learnt with unified data</a:t>
            </a:r>
            <a:endParaRPr sz="1100"/>
          </a:p>
          <a:p>
            <a:pPr marL="520700" marR="0" lvl="1" indent="-63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403" y="1860946"/>
            <a:ext cx="7265194" cy="142160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9"/>
          <p:cNvSpPr txBox="1"/>
          <p:nvPr/>
        </p:nvSpPr>
        <p:spPr>
          <a:xfrm>
            <a:off x="269840" y="4411688"/>
            <a:ext cx="860431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 Johnson, Thomas L Griffiths, and Sharon Goldwater. 2006. Adaptor grammars: A framework for specifying compositional nonparametric bayesian models. In Advances in neural information processing systems, pages 641– 648.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Multi-class classification</a:t>
            </a:r>
            <a:endParaRPr sz="1100"/>
          </a:p>
        </p:txBody>
      </p:sp>
      <p:sp>
        <p:nvSpPr>
          <p:cNvPr id="238" name="Google Shape;238;p4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8137002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Due to Large feature space and modest size of training data, the performance of SVM and decision tree classifiers were near to chance</a:t>
            </a:r>
            <a:endParaRPr sz="1100"/>
          </a:p>
          <a:p>
            <a:pPr marL="177800" marR="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6782" y="2570372"/>
            <a:ext cx="4234166" cy="196613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1"/>
          <p:cNvSpPr txBox="1"/>
          <p:nvPr/>
        </p:nvSpPr>
        <p:spPr>
          <a:xfrm>
            <a:off x="520145" y="2165762"/>
            <a:ext cx="4096637" cy="2654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handle class imbalance we used easy-ensemble approach</a:t>
            </a:r>
            <a:endParaRPr sz="1100"/>
          </a:p>
          <a:p>
            <a:pPr marL="34290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form multiple training sets, data samples in the minority classes remain intact whereas the majority classes are under-sampled to a defined proportion.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Results </a:t>
            </a:r>
            <a:endParaRPr sz="1100"/>
          </a:p>
        </p:txBody>
      </p:sp>
      <p:pic>
        <p:nvPicPr>
          <p:cNvPr id="247" name="Google Shape;24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9334" y="1243013"/>
            <a:ext cx="8365331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3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Feature Analysis</a:t>
            </a:r>
            <a:endParaRPr sz="1100"/>
          </a:p>
        </p:txBody>
      </p:sp>
      <p:graphicFrame>
        <p:nvGraphicFramePr>
          <p:cNvPr id="254" name="Google Shape;254;p43"/>
          <p:cNvGraphicFramePr/>
          <p:nvPr/>
        </p:nvGraphicFramePr>
        <p:xfrm>
          <a:off x="736662" y="1292638"/>
          <a:ext cx="7778675" cy="2810630"/>
        </p:xfrm>
        <a:graphic>
          <a:graphicData uri="http://schemas.openxmlformats.org/drawingml/2006/table">
            <a:tbl>
              <a:tblPr firstRow="1" bandRow="1">
                <a:noFill/>
                <a:tableStyleId>{C0A215D0-E86B-4178-ABFE-7D9844362A22}</a:tableStyleId>
              </a:tblPr>
              <a:tblGrid>
                <a:gridCol w="1398950"/>
                <a:gridCol w="4320000"/>
                <a:gridCol w="2059725"/>
              </a:tblGrid>
              <a:tr h="70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 u="none" strike="noStrike" cap="none"/>
                        <a:t>Sl.No</a:t>
                      </a:r>
                      <a:endParaRPr sz="21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 u="none" strike="noStrike" cap="none"/>
                        <a:t>Feature Set</a:t>
                      </a:r>
                      <a:endParaRPr sz="21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 u="none" strike="noStrike" cap="none"/>
                        <a:t>Accuracy</a:t>
                      </a:r>
                      <a:endParaRPr sz="21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</a:tr>
              <a:tr h="70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 u="none" strike="noStrike" cap="none"/>
                        <a:t>1.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 i="1" u="none" strike="noStrike" cap="none">
                          <a:solidFill>
                            <a:schemeClr val="dk1"/>
                          </a:solidFill>
                        </a:rPr>
                        <a:t>Aṣṭādhyāyī</a:t>
                      </a:r>
                      <a:r>
                        <a:rPr lang="en-GB" sz="2100" i="1" u="none" strike="noStrike" cap="none"/>
                        <a:t> </a:t>
                      </a:r>
                      <a:r>
                        <a:rPr lang="en-GB" sz="2100" u="none" strike="noStrike" cap="none"/>
                        <a:t>Rules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 u="none" strike="noStrike" cap="none"/>
                        <a:t>59.34 %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</a:tr>
              <a:tr h="593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 u="none" strike="noStrike" cap="none"/>
                        <a:t>2.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Calibri"/>
                        <a:buNone/>
                      </a:pPr>
                      <a:r>
                        <a:rPr lang="en-GB" sz="2100" u="none" strike="noStrike" cap="none"/>
                        <a:t>1 + </a:t>
                      </a:r>
                      <a:r>
                        <a:rPr lang="en-GB" sz="2100" i="1" u="none" strike="noStrike" cap="none">
                          <a:solidFill>
                            <a:schemeClr val="dk1"/>
                          </a:solidFill>
                        </a:rPr>
                        <a:t>Amarako</a:t>
                      </a:r>
                      <a:r>
                        <a:rPr lang="en-GB" sz="2100" b="0" i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ś</a:t>
                      </a:r>
                      <a:r>
                        <a:rPr lang="en-GB" sz="2100" i="1" u="none" strike="noStrike" cap="none">
                          <a:solidFill>
                            <a:schemeClr val="dk1"/>
                          </a:solidFill>
                        </a:rPr>
                        <a:t>a</a:t>
                      </a:r>
                      <a:endParaRPr sz="11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 u="none" strike="noStrike" cap="none"/>
                        <a:t>63.81 %</a:t>
                      </a:r>
                      <a:endParaRPr sz="1100"/>
                    </a:p>
                  </a:txBody>
                  <a:tcPr marL="68600" marR="68600" marT="34300" marB="34300"/>
                </a:tc>
              </a:tr>
              <a:tr h="700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3.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2 + Adaptor Grammar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75.18 %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4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Fine-grained Analysis</a:t>
            </a:r>
            <a:endParaRPr sz="1100"/>
          </a:p>
        </p:txBody>
      </p:sp>
      <p:pic>
        <p:nvPicPr>
          <p:cNvPr id="261" name="Google Shape;26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782" y="1268016"/>
            <a:ext cx="8022431" cy="319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 sz="3300" b="0" i="0" u="none" strike="noStrike" cap="non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100"/>
          </a:p>
        </p:txBody>
      </p:sp>
      <p:sp>
        <p:nvSpPr>
          <p:cNvPr id="268" name="Google Shape;268;p45"/>
          <p:cNvSpPr txBox="1"/>
          <p:nvPr/>
        </p:nvSpPr>
        <p:spPr>
          <a:xfrm>
            <a:off x="628650" y="1268016"/>
            <a:ext cx="7997162" cy="297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1590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Ensemble based classifier for the task</a:t>
            </a:r>
            <a:endParaRPr sz="1100"/>
          </a:p>
          <a:p>
            <a:pPr marL="21590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Linguistically motivated Features</a:t>
            </a:r>
            <a:endParaRPr sz="1100"/>
          </a:p>
          <a:p>
            <a:pPr marL="21590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Effectiveness of </a:t>
            </a:r>
            <a:r>
              <a:rPr lang="en-GB" sz="21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Amarako</a:t>
            </a:r>
            <a:r>
              <a:rPr lang="en-GB" sz="2100" i="1">
                <a:solidFill>
                  <a:srgbClr val="FFFFFF"/>
                </a:solidFill>
              </a:rPr>
              <a:t>ś</a:t>
            </a:r>
            <a:r>
              <a:rPr lang="en-GB" sz="21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Adaptor grammars for the task</a:t>
            </a:r>
            <a:endParaRPr sz="1100"/>
          </a:p>
          <a:p>
            <a:pPr marL="21590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Effectively incorporated features from </a:t>
            </a:r>
            <a:r>
              <a:rPr lang="en-GB" sz="21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Aṣṭādhyāyī</a:t>
            </a: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and from corpus usage</a:t>
            </a:r>
            <a:endParaRPr sz="1100"/>
          </a:p>
          <a:p>
            <a:pPr marL="21590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Challenges due to lack of context</a:t>
            </a:r>
            <a:endParaRPr sz="1100"/>
          </a:p>
          <a:p>
            <a:pPr marL="558800" marR="0" lvl="1" indent="-209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Case of same final form, but different classes like </a:t>
            </a:r>
            <a:r>
              <a:rPr lang="en-GB" sz="2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aputra</a:t>
            </a:r>
            <a:r>
              <a:rPr lang="en-GB"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ḥ</a:t>
            </a:r>
            <a:r>
              <a:rPr lang="en-GB" sz="2100" b="0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ativanam</a:t>
            </a:r>
            <a:r>
              <a:rPr lang="en-GB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etc.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6"/>
          <p:cNvSpPr/>
          <p:nvPr/>
        </p:nvSpPr>
        <p:spPr>
          <a:xfrm>
            <a:off x="269840" y="249221"/>
            <a:ext cx="8604300" cy="4645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Font typeface="Calibri"/>
              <a:buNone/>
            </a:pPr>
            <a:r>
              <a:rPr lang="en-GB">
                <a:solidFill>
                  <a:srgbClr val="92D050"/>
                </a:solidFill>
              </a:rPr>
              <a:t>Same word for multiple types</a:t>
            </a:r>
            <a:endParaRPr sz="1100"/>
          </a:p>
        </p:txBody>
      </p:sp>
      <p:sp>
        <p:nvSpPr>
          <p:cNvPr id="275" name="Google Shape;275;p46"/>
          <p:cNvSpPr txBox="1"/>
          <p:nvPr/>
        </p:nvSpPr>
        <p:spPr>
          <a:xfrm>
            <a:off x="628650" y="1268016"/>
            <a:ext cx="7997100" cy="29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</a:rPr>
              <a:t>nīlotpalam- nīla + utpala : Both Tatpuruṣa and Bahuvrīhi</a:t>
            </a:r>
            <a:endParaRPr sz="1800">
              <a:solidFill>
                <a:srgbClr val="FFFFFF"/>
              </a:solidFill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</a:rPr>
              <a:t>aputraḥ - </a:t>
            </a:r>
            <a:endParaRPr sz="1800">
              <a:solidFill>
                <a:srgbClr val="FFFFFF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-GB" sz="1800">
                <a:solidFill>
                  <a:srgbClr val="FFFFFF"/>
                </a:solidFill>
              </a:rPr>
              <a:t>na putraḥ (nañ-Tatpuruṣa ) </a:t>
            </a:r>
            <a:endParaRPr sz="1800">
              <a:solidFill>
                <a:srgbClr val="FFFFFF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-GB" sz="1800">
                <a:solidFill>
                  <a:srgbClr val="FFFFFF"/>
                </a:solidFill>
              </a:rPr>
              <a:t>avidyamānaḥ putraḥ yastya saḥ (nañ-Bahuvrīhi)</a:t>
            </a:r>
            <a:endParaRPr sz="1800">
              <a:solidFill>
                <a:srgbClr val="FFFFFF"/>
              </a:solidFill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</a:rPr>
              <a:t>ativanam </a:t>
            </a:r>
            <a:endParaRPr sz="1800">
              <a:solidFill>
                <a:srgbClr val="FFFFFF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-GB" sz="1800">
                <a:solidFill>
                  <a:srgbClr val="FFFFFF"/>
                </a:solidFill>
              </a:rPr>
              <a:t>vanasya atyayaḥ (Avyayībhāva)</a:t>
            </a:r>
            <a:endParaRPr sz="1800">
              <a:solidFill>
                <a:srgbClr val="FFFFFF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-GB" sz="1800">
                <a:solidFill>
                  <a:srgbClr val="FFFFFF"/>
                </a:solidFill>
              </a:rPr>
              <a:t> vanam atikrāntaḥ (Tatpuruṣa)</a:t>
            </a:r>
            <a:endParaRPr sz="1800">
              <a:solidFill>
                <a:srgbClr val="FFFFFF"/>
              </a:solidFill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</a:rPr>
              <a:t>Either context or canonical paraphrase is required</a:t>
            </a:r>
            <a:endParaRPr sz="1800">
              <a:solidFill>
                <a:srgbClr val="FFFFFF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7"/>
          <p:cNvSpPr/>
          <p:nvPr/>
        </p:nvSpPr>
        <p:spPr>
          <a:xfrm>
            <a:off x="269840" y="249221"/>
            <a:ext cx="8604317" cy="464505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Microsoft Office PowerPoint</Application>
  <PresentationFormat>On-screen Show (16:9)</PresentationFormat>
  <Paragraphs>143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Simple Light</vt:lpstr>
      <vt:lpstr>Office Theme</vt:lpstr>
      <vt:lpstr>Rules, Knowledge Base and Algorithms: Automated analysis of compound types in Sanskrit</vt:lpstr>
      <vt:lpstr>Compounding</vt:lpstr>
      <vt:lpstr>Compounds Word Usage</vt:lpstr>
      <vt:lpstr>Compounding</vt:lpstr>
      <vt:lpstr>Headedness of compounds in Sanskrit</vt:lpstr>
      <vt:lpstr>Headedness of compounds in Sanskrit</vt:lpstr>
      <vt:lpstr>Regularities of Compounds in Sanskrit</vt:lpstr>
      <vt:lpstr>Multi-class classification</vt:lpstr>
      <vt:lpstr>Multi-class classification</vt:lpstr>
      <vt:lpstr>Features – Rules from Aṣṭādhyāyī</vt:lpstr>
      <vt:lpstr>Features – Rules from Aṣṭādhyāyī</vt:lpstr>
      <vt:lpstr>Features – Relations from Lexicon</vt:lpstr>
      <vt:lpstr>Features – Variable length character n-grams</vt:lpstr>
      <vt:lpstr>Multi-class classification</vt:lpstr>
      <vt:lpstr>Results </vt:lpstr>
      <vt:lpstr>Feature Analysis</vt:lpstr>
      <vt:lpstr>Fine-grained Analysis</vt:lpstr>
      <vt:lpstr>Conclusion</vt:lpstr>
      <vt:lpstr>Same word for multiple types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Rules, Knowledge Base and Algorithms: Automated analysis of compound types in Sanskrit</dc:title>
  <cp:lastModifiedBy>Sumeru</cp:lastModifiedBy>
  <cp:revision>1</cp:revision>
  <dcterms:modified xsi:type="dcterms:W3CDTF">2021-01-20T03:40:23Z</dcterms:modified>
</cp:coreProperties>
</file>